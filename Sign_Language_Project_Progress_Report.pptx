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310896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RESEARCH &amp; ENGINEERING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Real-Time Motion-Aware Sign Language Detection &amp; Recognition</a:t>
            </a:r>
          </a:p>
          <a:p>
            <a:pPr>
              <a:spcBef>
                <a:spcPts val="800"/>
              </a:spcBef>
              <a:defRPr sz="1800">
                <a:solidFill>
                  <a:srgbClr val="0D9488"/>
                </a:solidFill>
              </a:defRPr>
            </a:pPr>
            <a:r>
              <a:t>Spatiotemporal Kinematics with PyTorch LSTM &amp; MediaPipe 3D Landmark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9875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1100">
                <a:solidFill>
                  <a:srgbClr val="06B6D4"/>
                </a:solidFill>
              </a:defRPr>
            </a:pPr>
            <a:r>
              <a:t>PROJECT HIGHLIGHTS &amp; CURRENT STATUS: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• 39 Active ASL Classes: Digits (0-9), Alphabet (A-Z), Controls (del, nothing, space)</a:t>
            </a:r>
            <a:br/>
            <a:r>
              <a:t>• Dual-Engine Architecture: PyTorch MotionSignLSTM (Dynamic) + Random Forest (Spatial)</a:t>
            </a:r>
            <a:br/>
            <a:r>
              <a:t>• High Accuracy: 92.39% Random Forest Test Acc | 80.33% MotionSignLSTM Test Acc</a:t>
            </a:r>
            <a:br/>
            <a:r>
              <a:t>• Fully Integrated Interfaces: Streamlit Motion Dashboard + Native 30+ FPS OpenCV HUD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&amp; Project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1E3A8A"/>
                </a:solidFill>
              </a:defRPr>
            </a:pPr>
            <a:r>
              <a:t>🎯 Project Objective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Develop an accessible, real-time sign language interpreter using consumer webcams without expensive sensory gloves or GPU requirements.</a:t>
            </a:r>
            <a:br/>
            <a:br/>
            <a:r>
              <a:t>Bridges communication barriers by translating gestures into text and natural synthesized speech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D9488"/>
                </a:solidFill>
              </a:defRPr>
            </a:pPr>
            <a:r>
              <a:t>⚡ Motion-Aware Distinction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Standard sign language apps only classify static single-frame postures.</a:t>
            </a:r>
            <a:br/>
            <a:br/>
            <a:r>
              <a:t>American Sign Language (ASL) is inherently dynamic: signs like 'J', 'Z', and conversational transitions require trajectory, velocity, and temporal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7E22CE"/>
                </a:solidFill>
              </a:defRPr>
            </a:pPr>
            <a:r>
              <a:t>🌐 39-Class Vocabulary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Comprehensive vocabulary:</a:t>
            </a:r>
            <a:br/>
            <a:r>
              <a:t>• 10 Digits: '0' through '9'</a:t>
            </a:r>
            <a:br/>
            <a:r>
              <a:t>• 26 Letters: 'A' through 'Z'</a:t>
            </a:r>
            <a:br/>
            <a:r>
              <a:t>• 3 Control Signs: 'space' (word break), 'del' (backspace), and 'nothing' (negative control background).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2. 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Key Engineering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1. Dynamic Motion Loss in 2D Images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Letters like 'J' (tracing a hook) and 'Z' (tracing a zigzag) share similar static endpoints with 'I' or '1'. Static classifiers fail because they lack temporal recurrence and velocity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2. Visual Ambiguity Between 'C' &amp; 'O'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Both signs feature curved fingers. Depending on camera distance and rotation, statistical classifiers often confuse them, requiring anatomical physiological disambiguation.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3. Computational Overhead of Raw Pixel CNNs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Direct 2D/3D CNNs process 150,000+ raw pixel values per frame. They demand high-end GPUs, suffer frame drops on laptops, and fail under varied lighting or background clutter.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4. Cropped Dataset Hand Border Clippings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Kaggle/archive benchmark images are tightly cropped (200x200), cutting off wrist and knuckle anchors and causing vanilla MediaPipe to fail on 50% of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3.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STAGE 1: INPUT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Webcam Video / Static Image</a:t>
            </a:r>
            <a:br/>
            <a:r>
              <a:t>(30 FPS RGB Frame)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STAGE 2: TRACKING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MediaPipe Hands</a:t>
            </a:r>
            <a:br/>
            <a:r>
              <a:t>(21 3D Biomechanical Joints)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7E22CE"/>
                </a:solidFill>
              </a:defRPr>
            </a:pPr>
            <a:r>
              <a:t>STAGE 3: KINEMATICS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129D Spatiotemporal Vector</a:t>
            </a:r>
            <a:br/>
            <a:r>
              <a:t>(Posture + Velocity + Delta)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STAGE 4: KINETIC GATING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Kinetic Energy Tracking</a:t>
            </a:r>
            <a:br/>
            <a:r>
              <a:t>(Static Hold vs Active Motion)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STAGE 5: DUAL AI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PyTorch LSTM / Random Forest</a:t>
            </a:r>
            <a:br/>
            <a:r>
              <a:t>(Posterior Probability Softmax)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STAGE 6: OUTPUT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Sentence Builder &amp; Offline TTS</a:t>
            </a:r>
            <a:br/>
            <a:r>
              <a:t>(Threaded pyttsx3 Audio)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4. 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Kinematic Feature Engineering (129 Features/Frame)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1. Spatial Posture (63 Features)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Wrist-relative normalized coordinates:</a:t>
            </a:r>
            <a:br/>
            <a:r>
              <a:t>x_i' = (x_i - x_0) / D_max</a:t>
            </a:r>
            <a:br/>
            <a:r>
              <a:t>y_i' = (y_i - y_0) / D_max</a:t>
            </a:r>
            <a:br/>
            <a:r>
              <a:t>z_i' = (z_i - z_0) / D_max</a:t>
            </a:r>
            <a:br/>
            <a:br/>
            <a:r>
              <a:t>Ensures strict invariance to camera distance, zoom, and spatial position across the video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2. Joint Velocities (63 Features)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First-order temporal derivatives:</a:t>
            </a:r>
            <a:br/>
            <a:r>
              <a:t>v_i(t) = p_i(t) - p_i(t-1)</a:t>
            </a:r>
            <a:br/>
            <a:br/>
            <a:r>
              <a:t>Computes instantaneous rate-of-change for all 21 joints, tracking individual finger curling, extension speed, and articulation dynamics.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3. Wrist Trajectory (3 Features)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Global displacement of hand root:</a:t>
            </a:r>
            <a:br/>
            <a:r>
              <a:t>Δp_0 = (Δx_0, Δy_0, Δz_0)</a:t>
            </a:r>
            <a:br/>
            <a:br/>
            <a:r>
              <a:t>Tracks overall hand movement through 3D air space. Essential for distinguishing dynamic signs ('J', 'Z') from static equivalents.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8655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0D9488"/>
                </a:solidFill>
              </a:defRPr>
            </a:pPr>
            <a:r>
              <a:t>INSTANTANEOUS KINETIC MOTION ENERGY TRACKING &amp; STATE GATING: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E_motion = Σ ||Δp_i(t)||^2 (across all 21 joints)</a:t>
            </a:r>
            <a:br/>
            <a:r>
              <a:t>• Static Hold (E &lt; 0.04): Dispatches to Random Forest for instant high-confidence posture evaluation.</a:t>
            </a:r>
            <a:br/>
            <a:r>
              <a:t>• Active Motion (0.04 ≤ E ≤ 0.15): Dispatches to PyTorch LSTM for continuous gesture trajectory classification.</a:t>
            </a:r>
            <a:br/>
            <a:r>
              <a:t>• Fast Trajectory (E &gt; 0.15): Flags rapid transitional hand motion, suppressing premature letter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5.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Dual-Engine AI Architecture (PyTorch LSTM + Random Forest)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🧠 PyTorch MotionSignLSTM (Deep Learning)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Input Tensor: (Batch, 20 Frames, 129 Features)</a:t>
            </a:r>
            <a:br/>
            <a:r>
              <a:t>• Layer 1: Recurrent LSTM (129 inputs → 128 hidden units)</a:t>
            </a:r>
            <a:br/>
            <a:r>
              <a:t>• Layer 2: Recurrent LSTM (128 units → 128 units, Dropout = 0.25)</a:t>
            </a:r>
            <a:br/>
            <a:r>
              <a:t>• Temporal Pooling: Extracts final timestep h_20 representation</a:t>
            </a:r>
            <a:br/>
            <a:r>
              <a:t>• Projection Head: Dense Linear(128, 64) → ReLU → Dropout(0.25) → Linear(64, 39)</a:t>
            </a:r>
            <a:br/>
            <a:r>
              <a:t>• Trainable Weights: 274,471 parameters</a:t>
            </a:r>
            <a:br/>
            <a:r>
              <a:t>• Training Regime: CrossEntropyLoss with Adam Optimizer (lr=0.001) over 30 epochs</a:t>
            </a:r>
            <a:br/>
            <a:r>
              <a:t>• Why it replaced Fuzzy Logic: Automatically learns complex non-linear temporal trajectories without brittle, handcrafted if-then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🌲 Random Forest Spatial Classifier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Input Dimension: 63 normalized static coordinates (21 joints × 3D)</a:t>
            </a:r>
            <a:br/>
            <a:r>
              <a:t>• Estimator Ensemble: 100 balanced decision trees</a:t>
            </a:r>
            <a:br/>
            <a:r>
              <a:t>• Latency: Under 1 millisecond inference time per frame</a:t>
            </a:r>
            <a:br/>
            <a:r>
              <a:t>• Role: Delivers instantaneous, rock-solid precision on static holds</a:t>
            </a:r>
            <a:br/>
            <a:br/>
            <a:r>
              <a:t>🔍 Anatomical Aperture Disambiguation ('C' vs 'O'):</a:t>
            </a:r>
            <a:br/>
            <a:r>
              <a:t>• Computes Euclidean distance between Thumb Tip (LM 4) and Index Tip (LM 8): Aperture = ||p_4 - p_8||_2</a:t>
            </a:r>
            <a:br/>
            <a:r>
              <a:t>• Aperture ≥ 0.44 → Confirmed open curve, promoted to 'C'</a:t>
            </a:r>
            <a:br/>
            <a:r>
              <a:t>• Aperture ≤ 0.25 → Confirmed closed circle, demoted to 'O'</a:t>
            </a:r>
            <a:br/>
            <a:r>
              <a:t>• Eliminates historical confusion between adjacent curved hand poses.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6.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Completed Milestones &amp; Project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t>✅ 1. Full Removal of Fuzzy Logic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Completely purged legacy `fuzzy/` folder and dependencies, transitioning 100% to deep recurrent neural representation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t>✅ 2. Ingestion of 39-Class ASL Dataset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Extracted 2,691 clean images and 3,682 spatiotemporal motion sequences across all 10 digits, 26 alphabet letters, and 3 control signs.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t>✅ 3. 8-Stage Cascading Hand Detector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Engineered reflective padding, replicate padding, and CLAHE contrast stages in `landmarks_util.py`, raising hand detection on cropped images to 100%.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004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t>✅ 4. Model Training &amp; Convergence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Trained Random Forest (92.39% accuracy) and PyTorch MotionSignLSTM (80.33% accuracy) on held-out test splits without synthetic cheating.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t>✅ 5. Real-Time Sentence Builder &amp; TTS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Integrated 15-frame temporal debouncing and threaded, non-blocking offline `pyttsx3` speech narration in both web and native desktop UIs.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5488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1E3A8A"/>
                </a:solidFill>
              </a:defRPr>
            </a:pPr>
            <a:r>
              <a:t>✅ 6. Publication-Grade Documentation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Compiled complete project documentation and 25-question Viva Guide PDFs with embedded high-resolution confusion matrix heatmaps.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7. EXPERIMENTAL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Grounded Evaluation Benchmarks (39 Classes)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📊 Held-Out Test Set Performance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Total Classes Evaluated: 39 (0-9, A-Z, del, nothing, space)</a:t>
            </a:r>
            <a:br/>
            <a:br/>
            <a:r>
              <a:t>🌲 Random Forest (Spatial 63D Landmarks):</a:t>
            </a:r>
            <a:br/>
            <a:r>
              <a:t>   - Test Accuracy: 92.39% (539 unseen test frames)</a:t>
            </a:r>
            <a:br/>
            <a:r>
              <a:t>   - Macro Precision: 92.97%</a:t>
            </a:r>
            <a:br/>
            <a:r>
              <a:t>   - Macro Recall: 92.46%</a:t>
            </a:r>
            <a:br/>
            <a:r>
              <a:t>   - Inference Latency: &lt; 1 ms / frame</a:t>
            </a:r>
            <a:br/>
            <a:br/>
            <a:r>
              <a:t>🧠 PyTorch MotionSignLSTM (129D Temporal Kinematics):</a:t>
            </a:r>
            <a:br/>
            <a:r>
              <a:t>   - Test Accuracy: 80.33% (737 unseen sequences)</a:t>
            </a:r>
            <a:br/>
            <a:r>
              <a:t>   - Macro Precision: 82.09%</a:t>
            </a:r>
            <a:br/>
            <a:r>
              <a:t>   - Macro Recall: 80.38%</a:t>
            </a:r>
            <a:br/>
            <a:r>
              <a:t>   - Weighted F1-Score: 79.18%</a:t>
            </a:r>
            <a:br/>
            <a:r>
              <a:t>   - Latency: ~8-12 ms / sequence (30+ FPS on CPU)</a:t>
            </a:r>
            <a:br/>
            <a:br/>
            <a:r>
              <a:t>🏆 Kaggle Test Image Benchmark: 100% hand detection rate, 96.30% first-pass recognition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66344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57784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</a:defRPr>
            </a:pPr>
            <a:r>
              <a:t>Figure: High-resolution Confusion Matrix heatmap across all 39 ASL classes on held-out test sequences.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8.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Deployment Interfaces &amp; Live User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🌐 Streamlit Web Application (app/app.py)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Run Command: `streamlit run app/app.py`</a:t>
            </a:r>
            <a:br/>
            <a:br/>
            <a:r>
              <a:t>• Tab 1: Live Motion ASL Recognition</a:t>
            </a:r>
            <a:br/>
            <a:r>
              <a:t>   - Real-time webcam feed with 21-joint skeleton overlay</a:t>
            </a:r>
            <a:br/>
            <a:r>
              <a:t>   - Instantaneous Kinetic Motion Energy meter</a:t>
            </a:r>
            <a:br/>
            <a:r>
              <a:t>   - Softmax probability distribution &amp; predicted letter</a:t>
            </a:r>
            <a:br/>
            <a:r>
              <a:t>   - Sentence builder with 'Space', 'Backspace', 'Clear', and 'Speak Text' (offline TTS)</a:t>
            </a:r>
            <a:br/>
            <a:br/>
            <a:r>
              <a:t>• Tab 2: Static Image Analysis</a:t>
            </a:r>
            <a:br/>
            <a:r>
              <a:t>   - Dropdown browser across all 39 classes with live sample loading</a:t>
            </a:r>
            <a:br/>
            <a:r>
              <a:t>   - Custom file uploader supporting PNG/JPG images</a:t>
            </a:r>
            <a:br/>
            <a:br/>
            <a:r>
              <a:t>• Tab 3: Model Evaluation</a:t>
            </a:r>
            <a:br/>
            <a:r>
              <a:t>   - Interactive confusion matrix heatmap and precision/recall stats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⚡ Native OpenCV Live HUD (app/realtime_cv.py)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Run Command: `python app/realtime_cv.py --camera 0`</a:t>
            </a:r>
            <a:br/>
            <a:br/>
            <a:r>
              <a:t>• High Frame Rate Performance:</a:t>
            </a:r>
            <a:br/>
            <a:r>
              <a:t>   - 30+ FPS low-latency desktop window</a:t>
            </a:r>
            <a:br/>
            <a:r>
              <a:t>   - Direct camera buffer rendering without browser overhead</a:t>
            </a:r>
            <a:br/>
            <a:br/>
            <a:r>
              <a:t>• Real-Time HUD Overlay:</a:t>
            </a:r>
            <a:br/>
            <a:r>
              <a:t>   - Top prediction banner with confidence score bar</a:t>
            </a:r>
            <a:br/>
            <a:r>
              <a:t>   - Current Kinetic Motion State badge</a:t>
            </a:r>
            <a:br/>
            <a:r>
              <a:t>   - Accumulated live sentence bar at bottom</a:t>
            </a:r>
            <a:br/>
            <a:br/>
            <a:r>
              <a:t>• Live Keyboard Shortcuts:</a:t>
            </a:r>
            <a:br/>
            <a:r>
              <a:t>   - [SPACE]: Insert word separation</a:t>
            </a:r>
            <a:br/>
            <a:r>
              <a:t>   - [BACKSPACE]: Delete preceding letter</a:t>
            </a:r>
            <a:br/>
            <a:r>
              <a:t>   - [A]: Force add current stable sign</a:t>
            </a:r>
            <a:br/>
            <a:r>
              <a:t>   - [C]: Clear sentence buffer</a:t>
            </a:r>
            <a:br/>
            <a:r>
              <a:t>   - [S]: Speak sentence aloud via pyttsx3</a:t>
            </a:r>
            <a:br/>
            <a:r>
              <a:t>   - [Q]: Cleanly exit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9.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Summary, Next Steps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🚀 Immediate Next Steps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Multi-User Validation: Conduct live trials across diverse lighting environments and background conditions.</a:t>
            </a:r>
            <a:br/>
            <a:r>
              <a:t>• Sentence Auto-Completion: Integrate lightweight n-gram word suggestion to speed up typing.</a:t>
            </a:r>
            <a:br/>
            <a:r>
              <a:t>• Fine-Tuning Motion Thresholds: Further calibrate kinetic energy transition boundaries for varied user signing speeds.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7E22CE"/>
                </a:solidFill>
              </a:defRPr>
            </a:pPr>
            <a:r>
              <a:t>🔮 Future Research Extensions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Two-Handed Signing: Extend MediaPipe configuration to dual-hand tracking for advanced multi-hand ASL signs.</a:t>
            </a:r>
            <a:br/>
            <a:r>
              <a:t>• NLP Grammar Translation: Integrate small language models (SLMs) to translate raw ASL gloss strings into grammatically fluent spoken English sentences.</a:t>
            </a:r>
            <a:br/>
            <a:r>
              <a:t>• Edge Optimization: Export trained PyTorch LSTM to ONNX / TensorRT for mobile and embedded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PROJECT STATUS: STABLE &amp; FULLY OPERATIONAL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All deliverables—including the 39-class ingested dataset, trained dual-engine models, Streamlit web dashboard, high-FPS OpenCV HUD, and standalone Viva documentation PDFs—are completed, validated, and ready for defense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